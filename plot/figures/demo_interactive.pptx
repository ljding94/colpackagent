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48" r:id="rId1"/>
  </p:sldMasterIdLst>
  <p:notesMasterIdLst>
    <p:notesMasterId r:id="rId3"/>
  </p:notesMasterIdLst>
  <p:sldIdLst>
    <p:sldId id="258" r:id="rId2"/>
  </p:sldIdLst>
  <p:sldSz cx="3017838" cy="4846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29"/>
    <p:restoredTop sz="94742"/>
  </p:normalViewPr>
  <p:slideViewPr>
    <p:cSldViewPr snapToGrid="0">
      <p:cViewPr varScale="1">
        <p:scale>
          <a:sx n="220" d="100"/>
          <a:sy n="220" d="100"/>
        </p:scale>
        <p:origin x="37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9832B-B52D-0744-ABFF-02B7CCDE2603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8563" y="1143000"/>
            <a:ext cx="1920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3C068-E901-BA4A-BC63-D05E1DD6E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8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2pPr>
    <a:lvl3pPr marL="914277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3pPr>
    <a:lvl4pPr marL="1371416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4pPr>
    <a:lvl5pPr marL="182855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5pPr>
    <a:lvl6pPr marL="228569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6pPr>
    <a:lvl7pPr marL="2742834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7pPr>
    <a:lvl8pPr marL="3199972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8pPr>
    <a:lvl9pPr marL="3657111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99BF5-564D-4F86-6631-15E1A522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B0926-3049-E577-0DD3-C12CA22B2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8563" y="1143000"/>
            <a:ext cx="1920875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5053B-DDD1-B9BB-0D25-7DD1821E8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5346B-C31B-2C4E-EE98-D6B7B0F33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3C068-E901-BA4A-BC63-D05E1DD6E8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5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338" y="793189"/>
            <a:ext cx="2565162" cy="1687348"/>
          </a:xfrm>
        </p:spPr>
        <p:txBody>
          <a:bodyPr anchor="b"/>
          <a:lstStyle>
            <a:lvl1pPr algn="ctr">
              <a:defRPr sz="1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230" y="2545607"/>
            <a:ext cx="2263379" cy="1170149"/>
          </a:xfrm>
        </p:spPr>
        <p:txBody>
          <a:bodyPr/>
          <a:lstStyle>
            <a:lvl1pPr marL="0" indent="0" algn="ctr">
              <a:buNone/>
              <a:defRPr sz="792"/>
            </a:lvl1pPr>
            <a:lvl2pPr marL="150876" indent="0" algn="ctr">
              <a:buNone/>
              <a:defRPr sz="660"/>
            </a:lvl2pPr>
            <a:lvl3pPr marL="301752" indent="0" algn="ctr">
              <a:buNone/>
              <a:defRPr sz="594"/>
            </a:lvl3pPr>
            <a:lvl4pPr marL="452628" indent="0" algn="ctr">
              <a:buNone/>
              <a:defRPr sz="528"/>
            </a:lvl4pPr>
            <a:lvl5pPr marL="603504" indent="0" algn="ctr">
              <a:buNone/>
              <a:defRPr sz="528"/>
            </a:lvl5pPr>
            <a:lvl6pPr marL="754380" indent="0" algn="ctr">
              <a:buNone/>
              <a:defRPr sz="528"/>
            </a:lvl6pPr>
            <a:lvl7pPr marL="905256" indent="0" algn="ctr">
              <a:buNone/>
              <a:defRPr sz="528"/>
            </a:lvl7pPr>
            <a:lvl8pPr marL="1056132" indent="0" algn="ctr">
              <a:buNone/>
              <a:defRPr sz="528"/>
            </a:lvl8pPr>
            <a:lvl9pPr marL="1207008" indent="0" algn="ctr">
              <a:buNone/>
              <a:defRPr sz="5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7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95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905" y="1208295"/>
            <a:ext cx="2602885" cy="2016066"/>
          </a:xfrm>
        </p:spPr>
        <p:txBody>
          <a:bodyPr anchor="b"/>
          <a:lstStyle>
            <a:lvl1pPr>
              <a:defRPr sz="1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905" y="3243434"/>
            <a:ext cx="2602885" cy="1060202"/>
          </a:xfrm>
        </p:spPr>
        <p:txBody>
          <a:bodyPr/>
          <a:lstStyle>
            <a:lvl1pPr marL="0" indent="0">
              <a:buNone/>
              <a:defRPr sz="792">
                <a:solidFill>
                  <a:schemeClr val="tx1">
                    <a:tint val="82000"/>
                  </a:schemeClr>
                </a:solidFill>
              </a:defRPr>
            </a:lvl1pPr>
            <a:lvl2pPr marL="150876" indent="0">
              <a:buNone/>
              <a:defRPr sz="660">
                <a:solidFill>
                  <a:schemeClr val="tx1">
                    <a:tint val="82000"/>
                  </a:schemeClr>
                </a:solidFill>
              </a:defRPr>
            </a:lvl2pPr>
            <a:lvl3pPr marL="301752" indent="0">
              <a:buNone/>
              <a:defRPr sz="594">
                <a:solidFill>
                  <a:schemeClr val="tx1">
                    <a:tint val="82000"/>
                  </a:schemeClr>
                </a:solidFill>
              </a:defRPr>
            </a:lvl3pPr>
            <a:lvl4pPr marL="452628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4pPr>
            <a:lvl5pPr marL="603504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5pPr>
            <a:lvl6pPr marL="754380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6pPr>
            <a:lvl7pPr marL="905256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7pPr>
            <a:lvl8pPr marL="1056132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8pPr>
            <a:lvl9pPr marL="1207008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476" y="1290193"/>
            <a:ext cx="1282581" cy="3075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781" y="1290193"/>
            <a:ext cx="1282581" cy="3075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64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258039"/>
            <a:ext cx="2602885" cy="936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870" y="1188100"/>
            <a:ext cx="1276687" cy="582269"/>
          </a:xfrm>
        </p:spPr>
        <p:txBody>
          <a:bodyPr anchor="b"/>
          <a:lstStyle>
            <a:lvl1pPr marL="0" indent="0">
              <a:buNone/>
              <a:defRPr sz="792" b="1"/>
            </a:lvl1pPr>
            <a:lvl2pPr marL="150876" indent="0">
              <a:buNone/>
              <a:defRPr sz="660" b="1"/>
            </a:lvl2pPr>
            <a:lvl3pPr marL="301752" indent="0">
              <a:buNone/>
              <a:defRPr sz="594" b="1"/>
            </a:lvl3pPr>
            <a:lvl4pPr marL="452628" indent="0">
              <a:buNone/>
              <a:defRPr sz="528" b="1"/>
            </a:lvl4pPr>
            <a:lvl5pPr marL="603504" indent="0">
              <a:buNone/>
              <a:defRPr sz="528" b="1"/>
            </a:lvl5pPr>
            <a:lvl6pPr marL="754380" indent="0">
              <a:buNone/>
              <a:defRPr sz="528" b="1"/>
            </a:lvl6pPr>
            <a:lvl7pPr marL="905256" indent="0">
              <a:buNone/>
              <a:defRPr sz="528" b="1"/>
            </a:lvl7pPr>
            <a:lvl8pPr marL="1056132" indent="0">
              <a:buNone/>
              <a:defRPr sz="528" b="1"/>
            </a:lvl8pPr>
            <a:lvl9pPr marL="1207008" indent="0">
              <a:buNone/>
              <a:defRPr sz="5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7870" y="1770369"/>
            <a:ext cx="1276687" cy="2603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27781" y="1188100"/>
            <a:ext cx="1282974" cy="582269"/>
          </a:xfrm>
        </p:spPr>
        <p:txBody>
          <a:bodyPr anchor="b"/>
          <a:lstStyle>
            <a:lvl1pPr marL="0" indent="0">
              <a:buNone/>
              <a:defRPr sz="792" b="1"/>
            </a:lvl1pPr>
            <a:lvl2pPr marL="150876" indent="0">
              <a:buNone/>
              <a:defRPr sz="660" b="1"/>
            </a:lvl2pPr>
            <a:lvl3pPr marL="301752" indent="0">
              <a:buNone/>
              <a:defRPr sz="594" b="1"/>
            </a:lvl3pPr>
            <a:lvl4pPr marL="452628" indent="0">
              <a:buNone/>
              <a:defRPr sz="528" b="1"/>
            </a:lvl4pPr>
            <a:lvl5pPr marL="603504" indent="0">
              <a:buNone/>
              <a:defRPr sz="528" b="1"/>
            </a:lvl5pPr>
            <a:lvl6pPr marL="754380" indent="0">
              <a:buNone/>
              <a:defRPr sz="528" b="1"/>
            </a:lvl6pPr>
            <a:lvl7pPr marL="905256" indent="0">
              <a:buNone/>
              <a:defRPr sz="528" b="1"/>
            </a:lvl7pPr>
            <a:lvl8pPr marL="1056132" indent="0">
              <a:buNone/>
              <a:defRPr sz="528" b="1"/>
            </a:lvl8pPr>
            <a:lvl9pPr marL="1207008" indent="0">
              <a:buNone/>
              <a:defRPr sz="5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27781" y="1770369"/>
            <a:ext cx="1282974" cy="2603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12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0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5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323109"/>
            <a:ext cx="973331" cy="1130882"/>
          </a:xfrm>
        </p:spPr>
        <p:txBody>
          <a:bodyPr anchor="b"/>
          <a:lstStyle>
            <a:lvl1pPr>
              <a:defRPr sz="10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974" y="697827"/>
            <a:ext cx="1527780" cy="3444254"/>
          </a:xfrm>
        </p:spPr>
        <p:txBody>
          <a:bodyPr/>
          <a:lstStyle>
            <a:lvl1pPr>
              <a:defRPr sz="1056"/>
            </a:lvl1pPr>
            <a:lvl2pPr>
              <a:defRPr sz="924"/>
            </a:lvl2pPr>
            <a:lvl3pPr>
              <a:defRPr sz="792"/>
            </a:lvl3pPr>
            <a:lvl4pPr>
              <a:defRPr sz="660"/>
            </a:lvl4pPr>
            <a:lvl5pPr>
              <a:defRPr sz="660"/>
            </a:lvl5pPr>
            <a:lvl6pPr>
              <a:defRPr sz="660"/>
            </a:lvl6pPr>
            <a:lvl7pPr>
              <a:defRPr sz="660"/>
            </a:lvl7pPr>
            <a:lvl8pPr>
              <a:defRPr sz="660"/>
            </a:lvl8pPr>
            <a:lvl9pPr>
              <a:defRPr sz="6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1453991"/>
            <a:ext cx="973331" cy="2693699"/>
          </a:xfrm>
        </p:spPr>
        <p:txBody>
          <a:bodyPr/>
          <a:lstStyle>
            <a:lvl1pPr marL="0" indent="0">
              <a:buNone/>
              <a:defRPr sz="528"/>
            </a:lvl1pPr>
            <a:lvl2pPr marL="150876" indent="0">
              <a:buNone/>
              <a:defRPr sz="462"/>
            </a:lvl2pPr>
            <a:lvl3pPr marL="301752" indent="0">
              <a:buNone/>
              <a:defRPr sz="396"/>
            </a:lvl3pPr>
            <a:lvl4pPr marL="452628" indent="0">
              <a:buNone/>
              <a:defRPr sz="330"/>
            </a:lvl4pPr>
            <a:lvl5pPr marL="603504" indent="0">
              <a:buNone/>
              <a:defRPr sz="330"/>
            </a:lvl5pPr>
            <a:lvl6pPr marL="754380" indent="0">
              <a:buNone/>
              <a:defRPr sz="330"/>
            </a:lvl6pPr>
            <a:lvl7pPr marL="905256" indent="0">
              <a:buNone/>
              <a:defRPr sz="330"/>
            </a:lvl7pPr>
            <a:lvl8pPr marL="1056132" indent="0">
              <a:buNone/>
              <a:defRPr sz="330"/>
            </a:lvl8pPr>
            <a:lvl9pPr marL="1207008" indent="0">
              <a:buNone/>
              <a:defRPr sz="3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43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323109"/>
            <a:ext cx="973331" cy="1130882"/>
          </a:xfrm>
        </p:spPr>
        <p:txBody>
          <a:bodyPr anchor="b"/>
          <a:lstStyle>
            <a:lvl1pPr>
              <a:defRPr sz="10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2974" y="697827"/>
            <a:ext cx="1527780" cy="3444254"/>
          </a:xfrm>
        </p:spPr>
        <p:txBody>
          <a:bodyPr anchor="t"/>
          <a:lstStyle>
            <a:lvl1pPr marL="0" indent="0">
              <a:buNone/>
              <a:defRPr sz="1056"/>
            </a:lvl1pPr>
            <a:lvl2pPr marL="150876" indent="0">
              <a:buNone/>
              <a:defRPr sz="924"/>
            </a:lvl2pPr>
            <a:lvl3pPr marL="301752" indent="0">
              <a:buNone/>
              <a:defRPr sz="792"/>
            </a:lvl3pPr>
            <a:lvl4pPr marL="452628" indent="0">
              <a:buNone/>
              <a:defRPr sz="660"/>
            </a:lvl4pPr>
            <a:lvl5pPr marL="603504" indent="0">
              <a:buNone/>
              <a:defRPr sz="660"/>
            </a:lvl5pPr>
            <a:lvl6pPr marL="754380" indent="0">
              <a:buNone/>
              <a:defRPr sz="660"/>
            </a:lvl6pPr>
            <a:lvl7pPr marL="905256" indent="0">
              <a:buNone/>
              <a:defRPr sz="660"/>
            </a:lvl7pPr>
            <a:lvl8pPr marL="1056132" indent="0">
              <a:buNone/>
              <a:defRPr sz="660"/>
            </a:lvl8pPr>
            <a:lvl9pPr marL="1207008" indent="0">
              <a:buNone/>
              <a:defRPr sz="6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1453991"/>
            <a:ext cx="973331" cy="2693699"/>
          </a:xfrm>
        </p:spPr>
        <p:txBody>
          <a:bodyPr/>
          <a:lstStyle>
            <a:lvl1pPr marL="0" indent="0">
              <a:buNone/>
              <a:defRPr sz="528"/>
            </a:lvl1pPr>
            <a:lvl2pPr marL="150876" indent="0">
              <a:buNone/>
              <a:defRPr sz="462"/>
            </a:lvl2pPr>
            <a:lvl3pPr marL="301752" indent="0">
              <a:buNone/>
              <a:defRPr sz="396"/>
            </a:lvl3pPr>
            <a:lvl4pPr marL="452628" indent="0">
              <a:buNone/>
              <a:defRPr sz="330"/>
            </a:lvl4pPr>
            <a:lvl5pPr marL="603504" indent="0">
              <a:buNone/>
              <a:defRPr sz="330"/>
            </a:lvl5pPr>
            <a:lvl6pPr marL="754380" indent="0">
              <a:buNone/>
              <a:defRPr sz="330"/>
            </a:lvl6pPr>
            <a:lvl7pPr marL="905256" indent="0">
              <a:buNone/>
              <a:defRPr sz="330"/>
            </a:lvl7pPr>
            <a:lvl8pPr marL="1056132" indent="0">
              <a:buNone/>
              <a:defRPr sz="330"/>
            </a:lvl8pPr>
            <a:lvl9pPr marL="1207008" indent="0">
              <a:buNone/>
              <a:defRPr sz="3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88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2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59641" y="258038"/>
            <a:ext cx="650721" cy="41073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477" y="258038"/>
            <a:ext cx="1914441" cy="41073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29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477" y="258039"/>
            <a:ext cx="2602885" cy="9367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477" y="1290193"/>
            <a:ext cx="2602885" cy="3075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476" y="4492116"/>
            <a:ext cx="679014" cy="2580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9659" y="4492116"/>
            <a:ext cx="1018520" cy="2580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1348" y="4492116"/>
            <a:ext cx="679014" cy="2580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18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defTabSz="301752" rtl="0" eaLnBrk="1" latinLnBrk="0" hangingPunct="1">
        <a:lnSpc>
          <a:spcPct val="90000"/>
        </a:lnSpc>
        <a:spcBef>
          <a:spcPct val="0"/>
        </a:spcBef>
        <a:buNone/>
        <a:defRPr sz="14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438" indent="-75438" algn="l" defTabSz="301752" rtl="0" eaLnBrk="1" latinLnBrk="0" hangingPunct="1">
        <a:lnSpc>
          <a:spcPct val="90000"/>
        </a:lnSpc>
        <a:spcBef>
          <a:spcPts val="330"/>
        </a:spcBef>
        <a:buFont typeface="Arial" panose="020B0604020202020204" pitchFamily="34" charset="0"/>
        <a:buChar char="•"/>
        <a:defRPr sz="924" kern="1200">
          <a:solidFill>
            <a:schemeClr val="tx1"/>
          </a:solidFill>
          <a:latin typeface="+mn-lt"/>
          <a:ea typeface="+mn-ea"/>
          <a:cs typeface="+mn-cs"/>
        </a:defRPr>
      </a:lvl1pPr>
      <a:lvl2pPr marL="226314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792" kern="1200">
          <a:solidFill>
            <a:schemeClr val="tx1"/>
          </a:solidFill>
          <a:latin typeface="+mn-lt"/>
          <a:ea typeface="+mn-ea"/>
          <a:cs typeface="+mn-cs"/>
        </a:defRPr>
      </a:lvl2pPr>
      <a:lvl3pPr marL="377190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3pPr>
      <a:lvl4pPr marL="528066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4pPr>
      <a:lvl5pPr marL="678942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5pPr>
      <a:lvl6pPr marL="829818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6pPr>
      <a:lvl7pPr marL="980694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7pPr>
      <a:lvl8pPr marL="1131570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8pPr>
      <a:lvl9pPr marL="1282446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1pPr>
      <a:lvl2pPr marL="150876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2pPr>
      <a:lvl3pPr marL="301752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3pPr>
      <a:lvl4pPr marL="452628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4pPr>
      <a:lvl5pPr marL="603504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6pPr>
      <a:lvl7pPr marL="905256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7pPr>
      <a:lvl8pPr marL="1056132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8pPr>
      <a:lvl9pPr marL="1207008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89DD3-E5F7-DF68-C110-2D11F128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D74F060-3EF3-90DD-7D67-2432EEB240FF}"/>
              </a:ext>
            </a:extLst>
          </p:cNvPr>
          <p:cNvSpPr/>
          <p:nvPr/>
        </p:nvSpPr>
        <p:spPr>
          <a:xfrm>
            <a:off x="167426" y="157103"/>
            <a:ext cx="2833956" cy="597737"/>
          </a:xfrm>
          <a:prstGeom prst="roundRect">
            <a:avLst>
              <a:gd name="adj" fmla="val 2181"/>
            </a:avLst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9144" rIns="18288" bIns="0" rtlCol="0" anchor="t"/>
          <a:lstStyle/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I'll set up a cube particle simulation. I need a few details to configure it:</a:t>
            </a:r>
          </a:p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1. </a:t>
            </a:r>
            <a:r>
              <a:rPr lang="en-US" sz="700" b="1" dirty="0">
                <a:solidFill>
                  <a:schemeClr val="tx1"/>
                </a:solidFill>
              </a:rPr>
              <a:t>**Dimension**</a:t>
            </a:r>
            <a:r>
              <a:rPr lang="en-US" sz="700" dirty="0">
                <a:solidFill>
                  <a:schemeClr val="tx1"/>
                </a:solidFill>
              </a:rPr>
              <a:t>: Cubes are 3D particles (confirmed from capabilities).</a:t>
            </a:r>
          </a:p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2. </a:t>
            </a:r>
            <a:r>
              <a:rPr lang="en-US" sz="700" b="1" dirty="0">
                <a:solidFill>
                  <a:schemeClr val="tx1"/>
                </a:solidFill>
              </a:rPr>
              <a:t>**Ensemble**</a:t>
            </a:r>
            <a:r>
              <a:rPr lang="en-US" sz="700" dirty="0">
                <a:solidFill>
                  <a:schemeClr val="tx1"/>
                </a:solidFill>
              </a:rPr>
              <a:t>: NVT (fixed volume) or NPT (fixed pressure)?</a:t>
            </a:r>
          </a:p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3. </a:t>
            </a:r>
            <a:r>
              <a:rPr lang="en-US" sz="700" b="1" dirty="0">
                <a:solidFill>
                  <a:schemeClr val="tx1"/>
                </a:solidFill>
              </a:rPr>
              <a:t>**Total particle number**</a:t>
            </a:r>
            <a:r>
              <a:rPr lang="en-US" sz="700" dirty="0">
                <a:solidFill>
                  <a:schemeClr val="tx1"/>
                </a:solidFill>
              </a:rPr>
              <a:t>: How many cubes? (e.g., 512, 1000, 2048)</a:t>
            </a:r>
          </a:p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If you'd like sensible defaults, I can proceed with: </a:t>
            </a:r>
          </a:p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{``example parameters``}</a:t>
            </a:r>
          </a:p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Shall I go ahead with these defaults, or do you want different values?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7D61089-0F21-FC35-60A1-94CD459355A1}"/>
              </a:ext>
            </a:extLst>
          </p:cNvPr>
          <p:cNvSpPr/>
          <p:nvPr/>
        </p:nvSpPr>
        <p:spPr>
          <a:xfrm>
            <a:off x="1018530" y="5820"/>
            <a:ext cx="1846496" cy="130536"/>
          </a:xfrm>
          <a:prstGeom prst="roundRect">
            <a:avLst>
              <a:gd name="adj" fmla="val 7344"/>
            </a:avLst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r>
              <a:rPr lang="en-US" sz="700" dirty="0">
                <a:solidFill>
                  <a:schemeClr val="tx1"/>
                </a:solidFill>
              </a:rPr>
              <a:t>Can you set up a simulation for cube particles?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DC37E0-F65B-91EB-FA8B-BB5F0FCF5156}"/>
              </a:ext>
            </a:extLst>
          </p:cNvPr>
          <p:cNvSpPr txBox="1"/>
          <p:nvPr/>
        </p:nvSpPr>
        <p:spPr>
          <a:xfrm>
            <a:off x="-62774" y="-34781"/>
            <a:ext cx="3161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(a)</a:t>
            </a:r>
          </a:p>
        </p:txBody>
      </p:sp>
      <p:pic>
        <p:nvPicPr>
          <p:cNvPr id="32" name="Picture 31" descr="Shape&#10;&#10;AI-generated content may be incorrect.">
            <a:extLst>
              <a:ext uri="{FF2B5EF4-FFF2-40B4-BE49-F238E27FC236}">
                <a16:creationId xmlns:a16="http://schemas.microsoft.com/office/drawing/2014/main" id="{C6257044-DB3C-A0CD-E7FD-743F4AEA22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103"/>
            <a:ext cx="144436" cy="14443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B0FD1497-5E57-08D7-F595-C3DB4D22E1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758" y="0"/>
            <a:ext cx="136356" cy="136356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1475931-CCE2-EFF1-FED9-07B4BF6C7DF8}"/>
              </a:ext>
            </a:extLst>
          </p:cNvPr>
          <p:cNvSpPr/>
          <p:nvPr/>
        </p:nvSpPr>
        <p:spPr>
          <a:xfrm>
            <a:off x="1343984" y="780515"/>
            <a:ext cx="1521042" cy="130536"/>
          </a:xfrm>
          <a:prstGeom prst="roundRect">
            <a:avLst>
              <a:gd name="adj" fmla="val 7344"/>
            </a:avLst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r>
              <a:rPr lang="en-US" sz="700" dirty="0">
                <a:solidFill>
                  <a:schemeClr val="tx1"/>
                </a:solidFill>
              </a:rPr>
              <a:t>let's try 300 particles in NPT ensemble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2363F0-C8BB-2CEA-2746-78D311FEB3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964" y="773564"/>
            <a:ext cx="136356" cy="136356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0A44DE6-D92D-7629-9B7B-3B1902EB072A}"/>
              </a:ext>
            </a:extLst>
          </p:cNvPr>
          <p:cNvSpPr/>
          <p:nvPr/>
        </p:nvSpPr>
        <p:spPr>
          <a:xfrm>
            <a:off x="167426" y="938958"/>
            <a:ext cx="2833956" cy="464061"/>
          </a:xfrm>
          <a:prstGeom prst="roundRect">
            <a:avLst>
              <a:gd name="adj" fmla="val 2181"/>
            </a:avLst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9144" rIns="18288" bIns="0" rtlCol="0" anchor="t"/>
          <a:lstStyle/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Simulation problem created at {``</a:t>
            </a:r>
            <a:r>
              <a:rPr lang="en-US" sz="700" dirty="0" err="1">
                <a:solidFill>
                  <a:schemeClr val="tx1"/>
                </a:solidFill>
              </a:rPr>
              <a:t>working_dir</a:t>
            </a:r>
            <a:r>
              <a:rPr lang="en-US" sz="700" dirty="0">
                <a:solidFill>
                  <a:schemeClr val="tx1"/>
                </a:solidFill>
              </a:rPr>
              <a:t>``} </a:t>
            </a:r>
            <a:r>
              <a:rPr lang="en-US" sz="700" b="1" dirty="0">
                <a:solidFill>
                  <a:schemeClr val="tx1"/>
                </a:solidFill>
              </a:rPr>
              <a:t>**Configuration:**:</a:t>
            </a:r>
            <a:endParaRPr lang="en-US" sz="7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- Dimension: 3D - Ensemble: NPT - Particles: 300 cubes </a:t>
            </a:r>
          </a:p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- Default pressure `P`: 1.0 - Default `</a:t>
            </a:r>
            <a:r>
              <a:rPr lang="en-US" sz="700" dirty="0" err="1">
                <a:solidFill>
                  <a:schemeClr val="tx1"/>
                </a:solidFill>
              </a:rPr>
              <a:t>sample_steps</a:t>
            </a:r>
            <a:r>
              <a:rPr lang="en-US" sz="700" dirty="0">
                <a:solidFill>
                  <a:schemeClr val="tx1"/>
                </a:solidFill>
              </a:rPr>
              <a:t>`: 20,000</a:t>
            </a:r>
          </a:p>
          <a:p>
            <a:pPr>
              <a:lnSpc>
                <a:spcPct val="80000"/>
              </a:lnSpc>
            </a:pPr>
            <a:r>
              <a:rPr lang="en-US" sz="700" b="1" dirty="0">
                <a:solidFill>
                  <a:schemeClr val="tx1"/>
                </a:solidFill>
              </a:rPr>
              <a:t>**Next step: planning runs.**</a:t>
            </a:r>
            <a:r>
              <a:rPr lang="en-US" sz="700" dirty="0">
                <a:solidFill>
                  <a:schemeClr val="tx1"/>
                </a:solidFill>
              </a:rPr>
              <a:t> Would you like to: {`` suggested runs``}</a:t>
            </a:r>
          </a:p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[create simulation set up file]</a:t>
            </a:r>
          </a:p>
        </p:txBody>
      </p:sp>
      <p:pic>
        <p:nvPicPr>
          <p:cNvPr id="12" name="Picture 11" descr="Shape&#10;&#10;AI-generated content may be incorrect.">
            <a:extLst>
              <a:ext uri="{FF2B5EF4-FFF2-40B4-BE49-F238E27FC236}">
                <a16:creationId xmlns:a16="http://schemas.microsoft.com/office/drawing/2014/main" id="{64D70E18-29E8-3076-59CE-E1FD6EF82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" y="911061"/>
            <a:ext cx="144436" cy="150291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79DBA37-1EBA-E191-8666-F55F09803967}"/>
              </a:ext>
            </a:extLst>
          </p:cNvPr>
          <p:cNvSpPr/>
          <p:nvPr/>
        </p:nvSpPr>
        <p:spPr>
          <a:xfrm>
            <a:off x="450002" y="1436896"/>
            <a:ext cx="2433487" cy="189032"/>
          </a:xfrm>
          <a:prstGeom prst="roundRect">
            <a:avLst>
              <a:gd name="adj" fmla="val 7344"/>
            </a:avLst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9144" rIns="18288" bIns="0" rtlCol="0" anchor="ctr"/>
          <a:lstStyle/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let's use particle side 1, let's sample 5e5 steps and sweep 5 pressure from 2 to 10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23BC21A-0CCF-B0F0-140E-747DE391D4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489" y="1431076"/>
            <a:ext cx="136356" cy="136356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2CFF502-AB96-85B2-CC7E-9D9611D0FDC5}"/>
              </a:ext>
            </a:extLst>
          </p:cNvPr>
          <p:cNvSpPr/>
          <p:nvPr/>
        </p:nvSpPr>
        <p:spPr>
          <a:xfrm>
            <a:off x="169433" y="1666449"/>
            <a:ext cx="2575774" cy="285358"/>
          </a:xfrm>
          <a:prstGeom prst="roundRect">
            <a:avLst>
              <a:gd name="adj" fmla="val 2181"/>
            </a:avLst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9144" rIns="18288" bIns="0" rtlCol="0" anchor="t"/>
          <a:lstStyle/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Planned 5 runs: {``detail about the planned runs``}</a:t>
            </a:r>
          </a:p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Ready to launch the simulations? {``more  related information``}</a:t>
            </a:r>
          </a:p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[create simulation planning files and folders]</a:t>
            </a:r>
          </a:p>
          <a:p>
            <a:pPr>
              <a:lnSpc>
                <a:spcPct val="80000"/>
              </a:lnSpc>
            </a:pPr>
            <a:endParaRPr lang="en-US" sz="700" dirty="0">
              <a:solidFill>
                <a:schemeClr val="tx1"/>
              </a:solidFill>
            </a:endParaRPr>
          </a:p>
        </p:txBody>
      </p:sp>
      <p:pic>
        <p:nvPicPr>
          <p:cNvPr id="17" name="Picture 16" descr="Shape&#10;&#10;AI-generated content may be incorrect.">
            <a:extLst>
              <a:ext uri="{FF2B5EF4-FFF2-40B4-BE49-F238E27FC236}">
                <a16:creationId xmlns:a16="http://schemas.microsoft.com/office/drawing/2014/main" id="{814E5407-F4C7-2355-5448-0ECC0FC24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" y="1666448"/>
            <a:ext cx="144436" cy="150291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88CE068-6060-EF22-4A7C-CFFA8FB1F6AB}"/>
              </a:ext>
            </a:extLst>
          </p:cNvPr>
          <p:cNvSpPr/>
          <p:nvPr/>
        </p:nvSpPr>
        <p:spPr>
          <a:xfrm>
            <a:off x="2407471" y="1967082"/>
            <a:ext cx="465493" cy="130536"/>
          </a:xfrm>
          <a:prstGeom prst="roundRect">
            <a:avLst>
              <a:gd name="adj" fmla="val 7344"/>
            </a:avLst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9144" rIns="18288" bIns="0" rtlCol="0" anchor="ctr"/>
          <a:lstStyle/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go ahead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AABEE4F-3F6B-B8CE-2248-9ACB36A8E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482" y="1953590"/>
            <a:ext cx="136356" cy="136356"/>
          </a:xfrm>
          <a:prstGeom prst="rect">
            <a:avLst/>
          </a:prstGeom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C0ED5E1-93BF-5525-6BA3-1132EA45FBB0}"/>
              </a:ext>
            </a:extLst>
          </p:cNvPr>
          <p:cNvSpPr/>
          <p:nvPr/>
        </p:nvSpPr>
        <p:spPr>
          <a:xfrm>
            <a:off x="175364" y="2122498"/>
            <a:ext cx="2575774" cy="278617"/>
          </a:xfrm>
          <a:prstGeom prst="roundRect">
            <a:avLst>
              <a:gd name="adj" fmla="val 2181"/>
            </a:avLst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9144" rIns="18288" bIns="0" rtlCol="0" anchor="t"/>
          <a:lstStyle/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[launch simulations, run in parallel]</a:t>
            </a:r>
          </a:p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Simulations launched as background job `</a:t>
            </a:r>
            <a:r>
              <a:rPr lang="en-US" sz="700" dirty="0" err="1">
                <a:solidFill>
                  <a:schemeClr val="tx1"/>
                </a:solidFill>
              </a:rPr>
              <a:t>wf_fd</a:t>
            </a:r>
            <a:r>
              <a:rPr lang="en-US" sz="700" dirty="0">
                <a:solidFill>
                  <a:schemeClr val="tx1"/>
                </a:solidFill>
              </a:rPr>
              <a:t>****`.</a:t>
            </a:r>
          </a:p>
          <a:p>
            <a:pPr>
              <a:lnSpc>
                <a:spcPct val="80000"/>
              </a:lnSpc>
            </a:pPr>
            <a:r>
              <a:rPr lang="en-US" sz="700" b="1" dirty="0">
                <a:solidFill>
                  <a:schemeClr val="tx1"/>
                </a:solidFill>
              </a:rPr>
              <a:t>**Monitor progress:** </a:t>
            </a:r>
            <a:r>
              <a:rPr lang="en-US" sz="700" dirty="0">
                <a:solidFill>
                  <a:schemeClr val="tx1"/>
                </a:solidFill>
              </a:rPr>
              <a:t>{``simulation progress``}</a:t>
            </a:r>
          </a:p>
        </p:txBody>
      </p:sp>
      <p:pic>
        <p:nvPicPr>
          <p:cNvPr id="21" name="Picture 20" descr="Shape&#10;&#10;AI-generated content may be incorrect.">
            <a:extLst>
              <a:ext uri="{FF2B5EF4-FFF2-40B4-BE49-F238E27FC236}">
                <a16:creationId xmlns:a16="http://schemas.microsoft.com/office/drawing/2014/main" id="{BC13D39B-63DC-AAE4-40C8-264C1FDDC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" y="2122498"/>
            <a:ext cx="144436" cy="15029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2BA512A-44BE-62AC-77C5-45E19D802F68}"/>
              </a:ext>
            </a:extLst>
          </p:cNvPr>
          <p:cNvSpPr/>
          <p:nvPr/>
        </p:nvSpPr>
        <p:spPr>
          <a:xfrm>
            <a:off x="1118514" y="2419839"/>
            <a:ext cx="1760382" cy="130536"/>
          </a:xfrm>
          <a:prstGeom prst="roundRect">
            <a:avLst>
              <a:gd name="adj" fmla="val 7344"/>
            </a:avLst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9144" rIns="18288" bIns="0" rtlCol="0" anchor="ctr"/>
          <a:lstStyle/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analyze the trajectory data when it’s finished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0C922E6-EF12-6DE7-797B-C15DE9930E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895" y="2414019"/>
            <a:ext cx="136356" cy="136356"/>
          </a:xfrm>
          <a:prstGeom prst="rect">
            <a:avLst/>
          </a:prstGeom>
        </p:spPr>
      </p:pic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E460BC7-72A9-84A0-75D9-5024AFF857F3}"/>
              </a:ext>
            </a:extLst>
          </p:cNvPr>
          <p:cNvSpPr/>
          <p:nvPr/>
        </p:nvSpPr>
        <p:spPr>
          <a:xfrm>
            <a:off x="175364" y="2580729"/>
            <a:ext cx="2575774" cy="278616"/>
          </a:xfrm>
          <a:prstGeom prst="roundRect">
            <a:avLst>
              <a:gd name="adj" fmla="val 2181"/>
            </a:avLst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9144" rIns="18288" bIns="0" rtlCol="0" anchor="t"/>
          <a:lstStyle/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[call data analysis tool]</a:t>
            </a:r>
          </a:p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Each run directory contains: {``simulation output file detail``}</a:t>
            </a:r>
          </a:p>
          <a:p>
            <a:pPr>
              <a:lnSpc>
                <a:spcPct val="80000"/>
              </a:lnSpc>
            </a:pPr>
            <a:r>
              <a:rPr lang="en-US" sz="700" dirty="0">
                <a:solidFill>
                  <a:schemeClr val="tx1"/>
                </a:solidFill>
              </a:rPr>
              <a:t>Let me know if you want me to inspect specific results…</a:t>
            </a:r>
          </a:p>
        </p:txBody>
      </p:sp>
      <p:pic>
        <p:nvPicPr>
          <p:cNvPr id="29" name="Picture 28" descr="Shape&#10;&#10;AI-generated content may be incorrect.">
            <a:extLst>
              <a:ext uri="{FF2B5EF4-FFF2-40B4-BE49-F238E27FC236}">
                <a16:creationId xmlns:a16="http://schemas.microsoft.com/office/drawing/2014/main" id="{62F26A7F-27C4-CD8D-42AC-CFF3B9A8A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2385"/>
            <a:ext cx="144436" cy="15029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779B5D3-7ECC-35CA-89B4-472987EE6D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8" y="3472638"/>
            <a:ext cx="3009900" cy="13462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06416C1-2189-536A-98AD-244EF2BC21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46" y="2908758"/>
            <a:ext cx="557463" cy="55746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E29DE9B-8BB4-C9E2-160D-5F91F722C4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175" y="2915175"/>
            <a:ext cx="557463" cy="55746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80E529F1-D8DE-2755-9F08-2178BF86FE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2904" y="2908758"/>
            <a:ext cx="557464" cy="557464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1D5E83C-3D42-8F7D-7352-FB3D7D16B8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8900" y="2915174"/>
            <a:ext cx="557463" cy="557463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2693F4FA-D3C2-EDF4-7A9F-35EE724276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1663" y="2908758"/>
            <a:ext cx="557463" cy="55746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3C95B318-9574-1AF6-07F1-97FBB6241F8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101" y="2900978"/>
            <a:ext cx="241300" cy="762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10C8BF9D-512A-388F-69EF-70290AAD82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1604" y="2900978"/>
            <a:ext cx="241300" cy="762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C7E7104F-E623-CC96-CBD2-DAC4EA0B023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64368" y="2906452"/>
            <a:ext cx="241300" cy="7620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E068E404-3ADD-FD35-602B-A37028D3926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25713" y="2906452"/>
            <a:ext cx="241300" cy="762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6C2FB723-544D-DE8B-7643-AACEBFA63C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43789" y="2896316"/>
            <a:ext cx="279400" cy="76200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78F9F17E-6FE6-1802-4A9D-4C80044FA4DD}"/>
              </a:ext>
            </a:extLst>
          </p:cNvPr>
          <p:cNvSpPr txBox="1"/>
          <p:nvPr/>
        </p:nvSpPr>
        <p:spPr>
          <a:xfrm>
            <a:off x="-73211" y="2832117"/>
            <a:ext cx="3193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(b)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B1B663B-1D2B-5B13-2BA2-AF4D7F0A0307}"/>
              </a:ext>
            </a:extLst>
          </p:cNvPr>
          <p:cNvSpPr txBox="1"/>
          <p:nvPr/>
        </p:nvSpPr>
        <p:spPr>
          <a:xfrm>
            <a:off x="-73211" y="4538873"/>
            <a:ext cx="3161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(c)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EE2DABC-5E2D-7CD0-830B-C8D5AEB9B854}"/>
              </a:ext>
            </a:extLst>
          </p:cNvPr>
          <p:cNvSpPr txBox="1"/>
          <p:nvPr/>
        </p:nvSpPr>
        <p:spPr>
          <a:xfrm>
            <a:off x="1563178" y="4538873"/>
            <a:ext cx="3193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4151851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6547</TotalTime>
  <Words>304</Words>
  <Application>Microsoft Macintosh PowerPoint</Application>
  <PresentationFormat>Custom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Ding, Lijie</dc:creator>
  <cp:lastModifiedBy>Ding, Lijie</cp:lastModifiedBy>
  <cp:revision>958</cp:revision>
  <dcterms:created xsi:type="dcterms:W3CDTF">2025-06-28T21:43:08Z</dcterms:created>
  <dcterms:modified xsi:type="dcterms:W3CDTF">2026-05-13T19:41:09Z</dcterms:modified>
</cp:coreProperties>
</file>